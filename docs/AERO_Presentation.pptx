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4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8A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54864" cy="3200400"/>
          </a:xfrm>
          <a:prstGeom prst="rect">
            <a:avLst/>
          </a:prstGeom>
          <a:solidFill>
            <a:srgbClr val="48A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AERO PSE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48A2CE"/>
                </a:solidFill>
                <a:latin typeface="Calibri"/>
              </a:defRPr>
            </a:pPr>
            <a:r>
              <a:t>System Zarzadzania Operacjami Lotniczymi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3566160"/>
            <a:ext cx="3657600" cy="27432"/>
          </a:xfrm>
          <a:prstGeom prst="rect">
            <a:avLst/>
          </a:prstGeom>
          <a:solidFill>
            <a:srgbClr val="48A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840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PSE Innowacje  --  Cyfryzacja inspekcji sieci przesylowej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8A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91295" y="914400"/>
            <a:ext cx="2286000" cy="2286000"/>
          </a:xfrm>
          <a:prstGeom prst="ellipse">
            <a:avLst/>
          </a:prstGeom>
          <a:solidFill>
            <a:srgbClr val="001E3A"/>
          </a:solidFill>
          <a:ln w="25400">
            <a:solidFill>
              <a:srgbClr val="48A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74175" y="146304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8A2CE"/>
                </a:solidFill>
                <a:latin typeface="Calibri"/>
              </a:rPr>
              <a:t>PSE
Innowacje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Calibri"/>
              </a:defRPr>
            </a:pPr>
            <a: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4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8A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Wyzwanie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27432"/>
          </a:xfrm>
          <a:prstGeom prst="rect">
            <a:avLst/>
          </a:prstGeom>
          <a:solidFill>
            <a:srgbClr val="48A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800">
                <a:solidFill>
                  <a:srgbClr val="48A2CE"/>
                </a:solidFill>
                <a:latin typeface="Calibri"/>
              </a:rPr>
              <a:t>▉  </a:t>
            </a:r>
            <a:r>
              <a:rPr sz="2000" b="0">
                <a:solidFill>
                  <a:srgbClr val="CCCCCC"/>
                </a:solidFill>
                <a:latin typeface="Calibri"/>
              </a:rPr>
              <a:t>Inspekcje linii przesylowych 400kV wymagaja koordynacji wielu zespolow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800">
                <a:solidFill>
                  <a:srgbClr val="48A2CE"/>
                </a:solidFill>
                <a:latin typeface="Calibri"/>
              </a:rPr>
              <a:t>▉  </a:t>
            </a:r>
            <a:r>
              <a:rPr sz="2000" b="0">
                <a:solidFill>
                  <a:srgbClr val="CCCCCC"/>
                </a:solidFill>
                <a:latin typeface="Calibri"/>
              </a:rPr>
              <a:t>Planowanie operacji lotniczych realizowane dotad manualnie (Excel, e-mail)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800">
                <a:solidFill>
                  <a:srgbClr val="48A2CE"/>
                </a:solidFill>
                <a:latin typeface="Calibri"/>
              </a:rPr>
              <a:t>▉  </a:t>
            </a:r>
            <a:r>
              <a:rPr sz="2000" b="0">
                <a:solidFill>
                  <a:srgbClr val="CCCCCC"/>
                </a:solidFill>
                <a:latin typeface="Calibri"/>
              </a:rPr>
              <a:t>Brak centralnego systemu sledzenia statusow i historii zmian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800">
                <a:solidFill>
                  <a:srgbClr val="48A2CE"/>
                </a:solidFill>
                <a:latin typeface="Calibri"/>
              </a:rPr>
              <a:t>▉  </a:t>
            </a:r>
            <a:r>
              <a:rPr sz="2000" b="0">
                <a:solidFill>
                  <a:srgbClr val="CCCCCC"/>
                </a:solidFill>
                <a:latin typeface="Calibri"/>
              </a:rPr>
              <a:t>Potrzeba walidacji bezpieczenstwa przed kazdym lotem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029200"/>
            <a:ext cx="10515600" cy="731520"/>
          </a:xfrm>
          <a:prstGeom prst="roundRect">
            <a:avLst/>
          </a:prstGeom>
          <a:solidFill>
            <a:srgbClr val="001E3A"/>
          </a:solidFill>
          <a:ln w="12700">
            <a:solidFill>
              <a:srgbClr val="48A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120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48A2CE"/>
                </a:solidFill>
                <a:latin typeface="Calibri"/>
              </a:rPr>
              <a:t>▶  </a:t>
            </a:r>
            <a:r>
              <a:rPr sz="1600" i="1">
                <a:solidFill>
                  <a:srgbClr val="FFFFFF"/>
                </a:solidFill>
                <a:latin typeface="Calibri"/>
              </a:rPr>
              <a:t>PSE zarzadza &gt;14 000 km linii najwyzszych napiec w Polsce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48A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Calibri"/>
              </a:defRPr>
            </a:pPr>
            <a: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4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8A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Architektura Technologiczna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3200400" cy="27432"/>
          </a:xfrm>
          <a:prstGeom prst="rect">
            <a:avLst/>
          </a:prstGeom>
          <a:solidFill>
            <a:srgbClr val="48A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754880"/>
          </a:xfrm>
          <a:prstGeom prst="roundRect">
            <a:avLst/>
          </a:prstGeom>
          <a:solidFill>
            <a:srgbClr val="001E3A"/>
          </a:solidFill>
          <a:ln w="12700">
            <a:solidFill>
              <a:srgbClr val="48A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8A2CE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057400"/>
            <a:ext cx="1371600" cy="18288"/>
          </a:xfrm>
          <a:prstGeom prst="rect">
            <a:avLst/>
          </a:prstGeom>
          <a:solidFill>
            <a:srgbClr val="48A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960"/>
              </a:spcAft>
            </a:pPr>
            <a:r>
              <a:rPr sz="1400">
                <a:solidFill>
                  <a:srgbClr val="48A2CE"/>
                </a:solidFill>
                <a:latin typeface="Calibri"/>
              </a:rPr>
              <a:t>▉  </a:t>
            </a:r>
            <a:r>
              <a:rPr sz="1600" b="0">
                <a:solidFill>
                  <a:srgbClr val="CCCCCC"/>
                </a:solidFill>
                <a:latin typeface="Calibri"/>
              </a:rPr>
              <a:t>React 18 + TypeScript</a:t>
            </a:r>
          </a:p>
          <a:p>
            <a:pPr>
              <a:spcBef>
                <a:spcPts val="200"/>
              </a:spcBef>
              <a:spcAft>
                <a:spcPts val="960"/>
              </a:spcAft>
            </a:pPr>
            <a:r>
              <a:rPr sz="1400">
                <a:solidFill>
                  <a:srgbClr val="48A2CE"/>
                </a:solidFill>
                <a:latin typeface="Calibri"/>
              </a:rPr>
              <a:t>▉  </a:t>
            </a:r>
            <a:r>
              <a:rPr sz="1600" b="0">
                <a:solidFill>
                  <a:srgbClr val="CCCCCC"/>
                </a:solidFill>
                <a:latin typeface="Calibri"/>
              </a:rPr>
              <a:t>React Router v6 (SPA)</a:t>
            </a:r>
          </a:p>
          <a:p>
            <a:pPr>
              <a:spcBef>
                <a:spcPts val="200"/>
              </a:spcBef>
              <a:spcAft>
                <a:spcPts val="960"/>
              </a:spcAft>
            </a:pPr>
            <a:r>
              <a:rPr sz="1400">
                <a:solidFill>
                  <a:srgbClr val="48A2CE"/>
                </a:solidFill>
                <a:latin typeface="Calibri"/>
              </a:rPr>
              <a:t>▉  </a:t>
            </a:r>
            <a:r>
              <a:rPr sz="1600" b="0">
                <a:solidFill>
                  <a:srgbClr val="CCCCCC"/>
                </a:solidFill>
                <a:latin typeface="Calibri"/>
              </a:rPr>
              <a:t>TanStack React Query</a:t>
            </a:r>
          </a:p>
          <a:p>
            <a:pPr>
              <a:spcBef>
                <a:spcPts val="200"/>
              </a:spcBef>
              <a:spcAft>
                <a:spcPts val="960"/>
              </a:spcAft>
            </a:pPr>
            <a:r>
              <a:rPr sz="1400">
                <a:solidFill>
                  <a:srgbClr val="48A2CE"/>
                </a:solidFill>
                <a:latin typeface="Calibri"/>
              </a:rPr>
              <a:t>▉  </a:t>
            </a:r>
            <a:r>
              <a:rPr sz="1600" b="0">
                <a:solidFill>
                  <a:srgbClr val="CCCCCC"/>
                </a:solidFill>
                <a:latin typeface="Calibri"/>
              </a:rPr>
              <a:t>Tailwind CSS + Custom Design System</a:t>
            </a:r>
          </a:p>
          <a:p>
            <a:pPr>
              <a:spcBef>
                <a:spcPts val="200"/>
              </a:spcBef>
              <a:spcAft>
                <a:spcPts val="960"/>
              </a:spcAft>
            </a:pPr>
            <a:r>
              <a:rPr sz="1400">
                <a:solidFill>
                  <a:srgbClr val="48A2CE"/>
                </a:solidFill>
                <a:latin typeface="Calibri"/>
              </a:rPr>
              <a:t>▉  </a:t>
            </a:r>
            <a:r>
              <a:rPr sz="1600" b="0">
                <a:solidFill>
                  <a:srgbClr val="CCCCCC"/>
                </a:solidFill>
                <a:latin typeface="Calibri"/>
              </a:rPr>
              <a:t>i18next (PL/EN)</a:t>
            </a:r>
          </a:p>
          <a:p>
            <a:pPr>
              <a:spcBef>
                <a:spcPts val="200"/>
              </a:spcBef>
              <a:spcAft>
                <a:spcPts val="960"/>
              </a:spcAft>
            </a:pPr>
            <a:r>
              <a:rPr sz="1400">
                <a:solidFill>
                  <a:srgbClr val="48A2CE"/>
                </a:solidFill>
                <a:latin typeface="Calibri"/>
              </a:rPr>
              <a:t>▉  </a:t>
            </a:r>
            <a:r>
              <a:rPr sz="1600" b="0">
                <a:solidFill>
                  <a:srgbClr val="CCCCCC"/>
                </a:solidFill>
                <a:latin typeface="Calibri"/>
              </a:rPr>
              <a:t>Leaflet.js -- mapy operacji</a:t>
            </a:r>
          </a:p>
          <a:p>
            <a:pPr>
              <a:spcBef>
                <a:spcPts val="200"/>
              </a:spcBef>
              <a:spcAft>
                <a:spcPts val="960"/>
              </a:spcAft>
            </a:pPr>
            <a:r>
              <a:rPr sz="1400">
                <a:solidFill>
                  <a:srgbClr val="48A2CE"/>
                </a:solidFill>
                <a:latin typeface="Calibri"/>
              </a:rPr>
              <a:t>▉  </a:t>
            </a:r>
            <a:r>
              <a:rPr sz="1600" b="0">
                <a:solidFill>
                  <a:srgbClr val="CCCCCC"/>
                </a:solidFill>
                <a:latin typeface="Calibri"/>
              </a:rPr>
              <a:t>Playwright -- testy E2E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5029200" cy="4754880"/>
          </a:xfrm>
          <a:prstGeom prst="roundRect">
            <a:avLst/>
          </a:prstGeom>
          <a:solidFill>
            <a:srgbClr val="001E3A"/>
          </a:solidFill>
          <a:ln w="12700">
            <a:solidFill>
              <a:srgbClr val="4C8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45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8832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2057400"/>
            <a:ext cx="1371600" cy="18288"/>
          </a:xfrm>
          <a:prstGeom prst="rect">
            <a:avLst/>
          </a:prstGeom>
          <a:solidFill>
            <a:srgbClr val="4C8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19456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960"/>
              </a:spcAft>
            </a:pPr>
            <a:r>
              <a:rPr sz="1400">
                <a:solidFill>
                  <a:srgbClr val="4C8832"/>
                </a:solidFill>
                <a:latin typeface="Calibri"/>
              </a:rPr>
              <a:t>▉  </a:t>
            </a:r>
            <a:r>
              <a:rPr sz="1600" b="0">
                <a:solidFill>
                  <a:srgbClr val="CCCCCC"/>
                </a:solidFill>
                <a:latin typeface="Calibri"/>
              </a:rPr>
              <a:t>Python 3.12 + FastAPI</a:t>
            </a:r>
          </a:p>
          <a:p>
            <a:pPr>
              <a:spcBef>
                <a:spcPts val="200"/>
              </a:spcBef>
              <a:spcAft>
                <a:spcPts val="960"/>
              </a:spcAft>
            </a:pPr>
            <a:r>
              <a:rPr sz="1400">
                <a:solidFill>
                  <a:srgbClr val="4C8832"/>
                </a:solidFill>
                <a:latin typeface="Calibri"/>
              </a:rPr>
              <a:t>▉  </a:t>
            </a:r>
            <a:r>
              <a:rPr sz="1600" b="0">
                <a:solidFill>
                  <a:srgbClr val="CCCCCC"/>
                </a:solidFill>
                <a:latin typeface="Calibri"/>
              </a:rPr>
              <a:t>SQLAlchemy 2.0 (async)</a:t>
            </a:r>
          </a:p>
          <a:p>
            <a:pPr>
              <a:spcBef>
                <a:spcPts val="200"/>
              </a:spcBef>
              <a:spcAft>
                <a:spcPts val="960"/>
              </a:spcAft>
            </a:pPr>
            <a:r>
              <a:rPr sz="1400">
                <a:solidFill>
                  <a:srgbClr val="4C8832"/>
                </a:solidFill>
                <a:latin typeface="Calibri"/>
              </a:rPr>
              <a:t>▉  </a:t>
            </a:r>
            <a:r>
              <a:rPr sz="1600" b="0">
                <a:solidFill>
                  <a:srgbClr val="CCCCCC"/>
                </a:solidFill>
                <a:latin typeface="Calibri"/>
              </a:rPr>
              <a:t>PostgreSQL 16</a:t>
            </a:r>
          </a:p>
          <a:p>
            <a:pPr>
              <a:spcBef>
                <a:spcPts val="200"/>
              </a:spcBef>
              <a:spcAft>
                <a:spcPts val="960"/>
              </a:spcAft>
            </a:pPr>
            <a:r>
              <a:rPr sz="1400">
                <a:solidFill>
                  <a:srgbClr val="4C8832"/>
                </a:solidFill>
                <a:latin typeface="Calibri"/>
              </a:rPr>
              <a:t>▉  </a:t>
            </a:r>
            <a:r>
              <a:rPr sz="1600" b="0">
                <a:solidFill>
                  <a:srgbClr val="CCCCCC"/>
                </a:solidFill>
                <a:latin typeface="Calibri"/>
              </a:rPr>
              <a:t>Pydantic v2 -- walidacja</a:t>
            </a:r>
          </a:p>
          <a:p>
            <a:pPr>
              <a:spcBef>
                <a:spcPts val="200"/>
              </a:spcBef>
              <a:spcAft>
                <a:spcPts val="960"/>
              </a:spcAft>
            </a:pPr>
            <a:r>
              <a:rPr sz="1400">
                <a:solidFill>
                  <a:srgbClr val="4C8832"/>
                </a:solidFill>
                <a:latin typeface="Calibri"/>
              </a:rPr>
              <a:t>▉  </a:t>
            </a:r>
            <a:r>
              <a:rPr sz="1600" b="0">
                <a:solidFill>
                  <a:srgbClr val="CCCCCC"/>
                </a:solidFill>
                <a:latin typeface="Calibri"/>
              </a:rPr>
              <a:t>JWT Authentication</a:t>
            </a:r>
          </a:p>
          <a:p>
            <a:pPr>
              <a:spcBef>
                <a:spcPts val="200"/>
              </a:spcBef>
              <a:spcAft>
                <a:spcPts val="960"/>
              </a:spcAft>
            </a:pPr>
            <a:r>
              <a:rPr sz="1400">
                <a:solidFill>
                  <a:srgbClr val="4C8832"/>
                </a:solidFill>
                <a:latin typeface="Calibri"/>
              </a:rPr>
              <a:t>▉  </a:t>
            </a:r>
            <a:r>
              <a:rPr sz="1600" b="0">
                <a:solidFill>
                  <a:srgbClr val="CCCCCC"/>
                </a:solidFill>
                <a:latin typeface="Calibri"/>
              </a:rPr>
              <a:t>Docker Compose</a:t>
            </a:r>
          </a:p>
          <a:p>
            <a:pPr>
              <a:spcBef>
                <a:spcPts val="200"/>
              </a:spcBef>
              <a:spcAft>
                <a:spcPts val="960"/>
              </a:spcAft>
            </a:pPr>
            <a:r>
              <a:rPr sz="1400">
                <a:solidFill>
                  <a:srgbClr val="4C8832"/>
                </a:solidFill>
                <a:latin typeface="Calibri"/>
              </a:rPr>
              <a:t>▉  </a:t>
            </a:r>
            <a:r>
              <a:rPr sz="1600" b="0">
                <a:solidFill>
                  <a:srgbClr val="CCCCCC"/>
                </a:solidFill>
                <a:latin typeface="Calibri"/>
              </a:rPr>
              <a:t>GitHub Actions CI/CD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48A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Calibri"/>
              </a:defRPr>
            </a:pPr>
            <a: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4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8A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Rol i Uprawnien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743200" cy="27432"/>
          </a:xfrm>
          <a:prstGeom prst="rect">
            <a:avLst/>
          </a:prstGeom>
          <a:solidFill>
            <a:srgbClr val="48A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7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498079"/>
              </a:tblGrid>
              <a:tr h="841248">
                <a:tc>
                  <a:txBody>
                    <a:bodyPr wrap="square"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Rola</a:t>
                      </a:r>
                    </a:p>
                  </a:txBody>
                  <a:tcPr anchor="ctr">
                    <a:solidFill>
                      <a:srgbClr val="48A2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Zakres uprawnien</a:t>
                      </a:r>
                    </a:p>
                  </a:txBody>
                  <a:tcPr anchor="ctr">
                    <a:solidFill>
                      <a:srgbClr val="48A2CE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>
                        <a:defRPr sz="1600" b="1">
                          <a:solidFill>
                            <a:srgbClr val="48A2CE"/>
                          </a:solidFill>
                          <a:latin typeface="Calibri"/>
                        </a:defRPr>
                      </a:pPr>
                      <a:r>
                        <a:t>Osoba planujaca</a:t>
                      </a:r>
                      <a:br/>
                      <a:r>
                        <a:t>(DE/CJI)</a:t>
                      </a:r>
                    </a:p>
                  </a:txBody>
                  <a:tcPr anchor="ctr">
                    <a:solidFill>
                      <a:srgbClr val="001E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6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Wprowadza operacje lotnicze, proponuje daty, monitoruje status</a:t>
                      </a:r>
                    </a:p>
                  </a:txBody>
                  <a:tcPr anchor="ctr">
                    <a:solidFill>
                      <a:srgbClr val="001E3A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>
                        <a:defRPr sz="1600" b="1">
                          <a:solidFill>
                            <a:srgbClr val="48A2CE"/>
                          </a:solidFill>
                          <a:latin typeface="Calibri"/>
                        </a:defRPr>
                      </a:pPr>
                      <a:r>
                        <a:t>Osoba nadzorujaca</a:t>
                      </a:r>
                      <a:br/>
                      <a:r>
                        <a:t>(DB)</a:t>
                      </a:r>
                    </a:p>
                  </a:txBody>
                  <a:tcPr anchor="ctr">
                    <a:solidFill>
                      <a:srgbClr val="00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6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Akceptuje/odrzuca operacje, ustala planowane daty, nadzoruje caly cykl</a:t>
                      </a:r>
                    </a:p>
                  </a:txBody>
                  <a:tcPr anchor="ctr">
                    <a:solidFill>
                      <a:srgbClr val="002545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>
                        <a:defRPr sz="1600" b="1">
                          <a:solidFill>
                            <a:srgbClr val="48A2CE"/>
                          </a:solidFill>
                          <a:latin typeface="Calibri"/>
                        </a:defRPr>
                      </a:pPr>
                      <a:r>
                        <a:t>Pilot</a:t>
                      </a:r>
                    </a:p>
                  </a:txBody>
                  <a:tcPr anchor="ctr">
                    <a:solidFill>
                      <a:srgbClr val="001E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6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Tworzy zlecenia na lot, raportuje realizacje, uzupelnia czasy rzeczywiste</a:t>
                      </a:r>
                    </a:p>
                  </a:txBody>
                  <a:tcPr anchor="ctr">
                    <a:solidFill>
                      <a:srgbClr val="001E3A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>
                        <a:defRPr sz="1600" b="1">
                          <a:solidFill>
                            <a:srgbClr val="48A2CE"/>
                          </a:solidFill>
                          <a:latin typeface="Calibri"/>
                        </a:defRPr>
                      </a:pPr>
                      <a:r>
                        <a:t>Administrator</a:t>
                      </a:r>
                    </a:p>
                  </a:txBody>
                  <a:tcPr anchor="ctr">
                    <a:solidFill>
                      <a:srgbClr val="00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600" b="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Zarzadza uzytkownikami, helikopterami, zalogami, ladowiskami</a:t>
                      </a:r>
                    </a:p>
                  </a:txBody>
                  <a:tcPr anchor="ctr">
                    <a:solidFill>
                      <a:srgbClr val="002545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48A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Calibri"/>
              </a:defRPr>
            </a:pPr>
            <a: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4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8A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Przeplyw Pracy -- Operacje i Zlecenia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3657600" cy="27432"/>
          </a:xfrm>
          <a:prstGeom prst="rect">
            <a:avLst/>
          </a:prstGeom>
          <a:solidFill>
            <a:srgbClr val="48A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286000" cy="1463040"/>
          </a:xfrm>
          <a:prstGeom prst="roundRect">
            <a:avLst/>
          </a:prstGeom>
          <a:solidFill>
            <a:srgbClr val="001E3A"/>
          </a:solidFill>
          <a:ln w="12700">
            <a:solidFill>
              <a:srgbClr val="48A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1. Wprowadzone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48A2CE"/>
                </a:solidFill>
                <a:latin typeface="Calibri"/>
              </a:defRPr>
            </a:pPr>
            <a:r>
              <a:t>Osoba</a:t>
            </a:r>
            <a:br/>
            <a:r>
              <a:t>planujaca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17627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8A2CE"/>
                </a:solidFill>
              </a:defRPr>
            </a:pPr>
            <a: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554480"/>
            <a:ext cx="2286000" cy="1463040"/>
          </a:xfrm>
          <a:prstGeom prst="roundRect">
            <a:avLst/>
          </a:prstGeom>
          <a:solidFill>
            <a:srgbClr val="001E3A"/>
          </a:solidFill>
          <a:ln w="12700">
            <a:solidFill>
              <a:srgbClr val="48A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6916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2. Potwierdzone</a:t>
            </a:r>
            <a:br/>
            <a:r>
              <a:t>do planu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48A2CE"/>
                </a:solidFill>
                <a:latin typeface="Calibri"/>
              </a:defRPr>
            </a:pPr>
            <a:r>
              <a:t>Osoba</a:t>
            </a:r>
            <a:br/>
            <a:r>
              <a:t>nadzorujaca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17627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8A2CE"/>
                </a:solidFill>
              </a:defRPr>
            </a:pPr>
            <a: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554480"/>
            <a:ext cx="2286000" cy="1463040"/>
          </a:xfrm>
          <a:prstGeom prst="roundRect">
            <a:avLst/>
          </a:prstGeom>
          <a:solidFill>
            <a:srgbClr val="001E3A"/>
          </a:solidFill>
          <a:ln w="12700">
            <a:solidFill>
              <a:srgbClr val="48A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6916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3. Zaplanowane</a:t>
            </a:r>
            <a:br/>
            <a:r>
              <a:t>do zlecenia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48A2CE"/>
                </a:solidFill>
                <a:latin typeface="Calibri"/>
              </a:defRPr>
            </a:pPr>
            <a:r>
              <a:t>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17627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8A2CE"/>
                </a:solidFill>
              </a:defRPr>
            </a:pPr>
            <a: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1554480"/>
            <a:ext cx="2286000" cy="1463040"/>
          </a:xfrm>
          <a:prstGeom prst="roundRect">
            <a:avLst/>
          </a:prstGeom>
          <a:solidFill>
            <a:srgbClr val="001E3A"/>
          </a:solidFill>
          <a:ln w="12700">
            <a:solidFill>
              <a:srgbClr val="4C8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16916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4. Zrealizowane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4C8832"/>
                </a:solidFill>
                <a:latin typeface="Calibri"/>
              </a:defRPr>
            </a:pPr>
            <a:r>
              <a:t>Pilot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74720"/>
            <a:ext cx="4572000" cy="640080"/>
          </a:xfrm>
          <a:prstGeom prst="roundRect">
            <a:avLst/>
          </a:prstGeom>
          <a:solidFill>
            <a:srgbClr val="001E3A"/>
          </a:solidFill>
          <a:ln w="12700">
            <a:solidFill>
              <a:srgbClr val="48A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58444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80"/>
              </a:spcAft>
              <a:defRPr sz="1700" b="1">
                <a:solidFill>
                  <a:srgbClr val="48A2CE"/>
                </a:solidFill>
                <a:latin typeface="Calibri"/>
              </a:defRPr>
            </a:pPr>
            <a:r>
              <a:t>7 statusow operacji  x  7 statusow zlecen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3891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19"/>
              </a:spcAft>
            </a:pPr>
            <a:r>
              <a:rPr sz="1500">
                <a:solidFill>
                  <a:srgbClr val="48A2CE"/>
                </a:solidFill>
                <a:latin typeface="Calibri"/>
              </a:rPr>
              <a:t>▉  </a:t>
            </a:r>
            <a:r>
              <a:rPr sz="1700" b="0">
                <a:solidFill>
                  <a:srgbClr val="CCCCCC"/>
                </a:solidFill>
                <a:latin typeface="Calibri"/>
              </a:rPr>
              <a:t>Pelny audit trail -- historia zmian kazdego pola</a:t>
            </a:r>
          </a:p>
          <a:p>
            <a:pPr>
              <a:spcBef>
                <a:spcPts val="200"/>
              </a:spcBef>
              <a:spcAft>
                <a:spcPts val="1019"/>
              </a:spcAft>
            </a:pPr>
            <a:r>
              <a:rPr sz="1500">
                <a:solidFill>
                  <a:srgbClr val="48A2CE"/>
                </a:solidFill>
                <a:latin typeface="Calibri"/>
              </a:rPr>
              <a:t>▉  </a:t>
            </a:r>
            <a:r>
              <a:rPr sz="1700" b="0">
                <a:solidFill>
                  <a:srgbClr val="CCCCCC"/>
                </a:solidFill>
                <a:latin typeface="Calibri"/>
              </a:rPr>
              <a:t>Walidacja bezpieczenstwa: waga zalogi, zasieg helikoptera, waznosc licencji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48A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Calibri"/>
              </a:defRPr>
            </a:pPr>
            <a: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4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8A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Mozliwosci Systemu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27432"/>
          </a:xfrm>
          <a:prstGeom prst="rect">
            <a:avLst/>
          </a:prstGeom>
          <a:solidFill>
            <a:srgbClr val="48A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822960"/>
          </a:xfrm>
          <a:prstGeom prst="roundRect">
            <a:avLst/>
          </a:prstGeom>
          <a:solidFill>
            <a:srgbClr val="001E3A"/>
          </a:solidFill>
          <a:ln w="12700">
            <a:solidFill>
              <a:srgbClr val="48A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45720" cy="640080"/>
          </a:xfrm>
          <a:prstGeom prst="rect">
            <a:avLst/>
          </a:prstGeom>
          <a:solidFill>
            <a:srgbClr val="48A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0">
                <a:solidFill>
                  <a:srgbClr val="CCCCCC"/>
                </a:solidFill>
                <a:latin typeface="Calibri"/>
              </a:defRPr>
            </a:pPr>
            <a:r>
              <a:t>Planowanie operacji z trasami KML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5029200" cy="822960"/>
          </a:xfrm>
          <a:prstGeom prst="roundRect">
            <a:avLst/>
          </a:prstGeom>
          <a:solidFill>
            <a:srgbClr val="001E3A"/>
          </a:solidFill>
          <a:ln w="12700">
            <a:solidFill>
              <a:srgbClr val="48A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651760"/>
            <a:ext cx="45720" cy="640080"/>
          </a:xfrm>
          <a:prstGeom prst="rect">
            <a:avLst/>
          </a:prstGeom>
          <a:solidFill>
            <a:srgbClr val="48A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57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0">
                <a:solidFill>
                  <a:srgbClr val="CCCCCC"/>
                </a:solidFill>
                <a:latin typeface="Calibri"/>
              </a:defRPr>
            </a:pPr>
            <a:r>
              <a:t>Wizualizacja tras na mapie Polski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5029200" cy="822960"/>
          </a:xfrm>
          <a:prstGeom prst="roundRect">
            <a:avLst/>
          </a:prstGeom>
          <a:solidFill>
            <a:srgbClr val="001E3A"/>
          </a:solidFill>
          <a:ln w="12700">
            <a:solidFill>
              <a:srgbClr val="48A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657600"/>
            <a:ext cx="45720" cy="640080"/>
          </a:xfrm>
          <a:prstGeom prst="rect">
            <a:avLst/>
          </a:prstGeom>
          <a:solidFill>
            <a:srgbClr val="48A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703320"/>
            <a:ext cx="457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0">
                <a:solidFill>
                  <a:srgbClr val="CCCCCC"/>
                </a:solidFill>
                <a:latin typeface="Calibri"/>
              </a:defRPr>
            </a:pPr>
            <a:r>
              <a:t>Workflow akceptacji z potwierdzeniami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5029200" cy="822960"/>
          </a:xfrm>
          <a:prstGeom prst="roundRect">
            <a:avLst/>
          </a:prstGeom>
          <a:solidFill>
            <a:srgbClr val="001E3A"/>
          </a:solidFill>
          <a:ln w="12700">
            <a:solidFill>
              <a:srgbClr val="48A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663440"/>
            <a:ext cx="45720" cy="640080"/>
          </a:xfrm>
          <a:prstGeom prst="rect">
            <a:avLst/>
          </a:prstGeom>
          <a:solidFill>
            <a:srgbClr val="48A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09160"/>
            <a:ext cx="457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0">
                <a:solidFill>
                  <a:srgbClr val="CCCCCC"/>
                </a:solidFill>
                <a:latin typeface="Calibri"/>
              </a:defRPr>
            </a:pPr>
            <a:r>
              <a:t>Dashboard z podsumowaniem operacyjnym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554480"/>
            <a:ext cx="5029200" cy="822960"/>
          </a:xfrm>
          <a:prstGeom prst="roundRect">
            <a:avLst/>
          </a:prstGeom>
          <a:solidFill>
            <a:srgbClr val="001E3A"/>
          </a:solidFill>
          <a:ln w="12700">
            <a:solidFill>
              <a:srgbClr val="4C8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645920"/>
            <a:ext cx="45720" cy="640080"/>
          </a:xfrm>
          <a:prstGeom prst="rect">
            <a:avLst/>
          </a:prstGeom>
          <a:solidFill>
            <a:srgbClr val="4C8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691640"/>
            <a:ext cx="457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0">
                <a:solidFill>
                  <a:srgbClr val="CCCCCC"/>
                </a:solidFill>
                <a:latin typeface="Calibri"/>
              </a:defRPr>
            </a:pPr>
            <a:r>
              <a:t>Walidacja terytorialna (bounding box PL)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560320"/>
            <a:ext cx="5029200" cy="822960"/>
          </a:xfrm>
          <a:prstGeom prst="roundRect">
            <a:avLst/>
          </a:prstGeom>
          <a:solidFill>
            <a:srgbClr val="001E3A"/>
          </a:solidFill>
          <a:ln w="12700">
            <a:solidFill>
              <a:srgbClr val="4C8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2651760"/>
            <a:ext cx="45720" cy="640080"/>
          </a:xfrm>
          <a:prstGeom prst="rect">
            <a:avLst/>
          </a:prstGeom>
          <a:solidFill>
            <a:srgbClr val="4C8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697480"/>
            <a:ext cx="457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0">
                <a:solidFill>
                  <a:srgbClr val="CCCCCC"/>
                </a:solidFill>
                <a:latin typeface="Calibri"/>
              </a:defRPr>
            </a:pPr>
            <a:r>
              <a:t>Zarzadzanie zalogami i licencjami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566160"/>
            <a:ext cx="5029200" cy="822960"/>
          </a:xfrm>
          <a:prstGeom prst="roundRect">
            <a:avLst/>
          </a:prstGeom>
          <a:solidFill>
            <a:srgbClr val="001E3A"/>
          </a:solidFill>
          <a:ln w="12700">
            <a:solidFill>
              <a:srgbClr val="4C8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3657600"/>
            <a:ext cx="45720" cy="640080"/>
          </a:xfrm>
          <a:prstGeom prst="rect">
            <a:avLst/>
          </a:prstGeom>
          <a:solidFill>
            <a:srgbClr val="4C8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703320"/>
            <a:ext cx="457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0">
                <a:solidFill>
                  <a:srgbClr val="CCCCCC"/>
                </a:solidFill>
                <a:latin typeface="Calibri"/>
              </a:defRPr>
            </a:pPr>
            <a:r>
              <a:t>Dwujezyczny interfejs (PL/EN)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572000"/>
            <a:ext cx="5029200" cy="822960"/>
          </a:xfrm>
          <a:prstGeom prst="roundRect">
            <a:avLst/>
          </a:prstGeom>
          <a:solidFill>
            <a:srgbClr val="001E3A"/>
          </a:solidFill>
          <a:ln w="12700">
            <a:solidFill>
              <a:srgbClr val="4C8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4663440"/>
            <a:ext cx="45720" cy="640080"/>
          </a:xfrm>
          <a:prstGeom prst="rect">
            <a:avLst/>
          </a:prstGeom>
          <a:solidFill>
            <a:srgbClr val="4C8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4709160"/>
            <a:ext cx="457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0">
                <a:solidFill>
                  <a:srgbClr val="CCCCCC"/>
                </a:solidFill>
                <a:latin typeface="Calibri"/>
              </a:defRPr>
            </a:pPr>
            <a:r>
              <a:t>Responsywny design (mobile/tablet)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48A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Calibri"/>
              </a:defRPr>
            </a:pPr>
            <a: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4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8A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Podsumowanie i Nastepne Kroki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3200400" cy="27432"/>
          </a:xfrm>
          <a:prstGeom prst="rect">
            <a:avLst/>
          </a:prstGeom>
          <a:solidFill>
            <a:srgbClr val="48A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9601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800">
                <a:solidFill>
                  <a:srgbClr val="4C8832"/>
                </a:solidFill>
                <a:latin typeface="Calibri"/>
              </a:rPr>
              <a:t>▉  </a:t>
            </a:r>
            <a:r>
              <a:rPr sz="2000" b="0">
                <a:solidFill>
                  <a:srgbClr val="CCCCCC"/>
                </a:solidFill>
                <a:latin typeface="Calibri"/>
              </a:rPr>
              <a:t>System gotowy do wdrozenia pilotazowego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800">
                <a:solidFill>
                  <a:srgbClr val="4C8832"/>
                </a:solidFill>
                <a:latin typeface="Calibri"/>
              </a:rPr>
              <a:t>▉  </a:t>
            </a:r>
            <a:r>
              <a:rPr sz="2000" b="0">
                <a:solidFill>
                  <a:srgbClr val="CCCCCC"/>
                </a:solidFill>
                <a:latin typeface="Calibri"/>
              </a:rPr>
              <a:t>40 testow E2E pokrywajacych kluczowe scenariusze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800">
                <a:solidFill>
                  <a:srgbClr val="4C8832"/>
                </a:solidFill>
                <a:latin typeface="Calibri"/>
              </a:rPr>
              <a:t>▉  </a:t>
            </a:r>
            <a:r>
              <a:rPr sz="2000" b="0">
                <a:solidFill>
                  <a:srgbClr val="CCCCCC"/>
                </a:solidFill>
                <a:latin typeface="Calibri"/>
              </a:rPr>
              <a:t>CI/CD pipeline z automatycznym deploymentem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10515600" cy="822960"/>
          </a:xfrm>
          <a:prstGeom prst="roundRect">
            <a:avLst/>
          </a:prstGeom>
          <a:solidFill>
            <a:srgbClr val="001E3A"/>
          </a:solidFill>
          <a:ln w="12700">
            <a:solidFill>
              <a:srgbClr val="48A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794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8A2CE"/>
                </a:solidFill>
                <a:latin typeface="Calibri"/>
              </a:rPr>
              <a:t>▶  </a:t>
            </a:r>
            <a:r>
              <a:rPr sz="1700">
                <a:solidFill>
                  <a:srgbClr val="FFFFFF"/>
                </a:solidFill>
                <a:latin typeface="Calibri"/>
              </a:rPr>
              <a:t>Roadmap: integracja z systemami PSE, rozszerzona analityka, modul raportowania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03520"/>
            <a:ext cx="10515600" cy="18288"/>
          </a:xfrm>
          <a:prstGeom prst="rect">
            <a:avLst/>
          </a:prstGeom>
          <a:solidFill>
            <a:srgbClr val="48A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440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8A2CE"/>
                </a:solidFill>
                <a:latin typeface="Calibri"/>
              </a:defRPr>
            </a:pPr>
            <a:r>
              <a:t>AERO PSE -- PSE Innowacje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8A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  <a:latin typeface="Calibri"/>
              </a:defRPr>
            </a:pPr>
            <a: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